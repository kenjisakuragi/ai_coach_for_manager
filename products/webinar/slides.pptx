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D"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9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経営者のためのAI活用ライブ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社長の</a:t>
            </a:r>
            <a:pPr algn="ctr" indent="0" marL="0">
              <a:buNone/>
            </a:pPr>
            <a:r>
              <a:rPr lang="en-US" sz="7200" b="1" dirty="0">
                <a:solidFill>
                  <a:srgbClr val="E5701F"/>
                </a:solidFill>
                <a:highlight>
                  <a:srgbClr val="FFE585"/>
                </a:highlight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30時間</a:t>
            </a:r>
            <a:pPr algn="ctr" indent="0" marL="0">
              <a:buNone/>
            </a:pPr>
            <a:r>
              <a:rPr lang="en-US" sz="72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を、</a:t>
            </a:r>
            <a:pPr algn="ctr" indent="0" marL="0">
              <a:buNone/>
            </a:pPr>
            <a:endParaRPr lang="en-US" sz="7200" dirty="0"/>
          </a:p>
          <a:p>
            <a:pPr algn="ctr" indent="0" marL="0">
              <a:buNone/>
            </a:pPr>
            <a:r>
              <a:rPr lang="en-US" sz="72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AIで取り戻す。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プログラミング知識ゼロでもOK｜"Claude Code" 実装ライブ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0" y="5486400"/>
            <a:ext cx="85039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A24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54864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🎤 講師：桜木 健二（東京大学大学院 近山・田浦研究室 卒業）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本日のゴール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120分で持ち帰れるもの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8813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2A2419"/>
            </a:solidFill>
            <a:prstDash val="solid"/>
          </a:ln>
          <a:effectLst>
            <a:outerShdw sx="100000" sy="100000" kx="0" ky="0" algn="bl" rotWithShape="0" blurRad="101600" dist="50800" dir="16200000">
              <a:srgbClr val="2A2419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95728"/>
            <a:ext cx="640080" cy="640080"/>
          </a:xfrm>
          <a:prstGeom prst="ellipse">
            <a:avLst/>
          </a:prstGeom>
          <a:solidFill>
            <a:srgbClr val="FF8C42"/>
          </a:solidFill>
          <a:ln w="38100">
            <a:solidFill>
              <a:srgbClr val="2A24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957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"ムダ時間" の正体がわかる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あなたの月30時間がどこに消えているか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474720"/>
            <a:ext cx="108813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2A2419"/>
            </a:solidFill>
            <a:prstDash val="solid"/>
          </a:ln>
          <a:effectLst>
            <a:outerShdw sx="100000" sy="100000" kx="0" ky="0" algn="bl" rotWithShape="0" blurRad="101600" dist="50800" dir="16200000">
              <a:srgbClr val="2A2419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767328"/>
            <a:ext cx="640080" cy="640080"/>
          </a:xfrm>
          <a:prstGeom prst="ellipse">
            <a:avLst/>
          </a:prstGeom>
          <a:solidFill>
            <a:srgbClr val="FF8C42"/>
          </a:solidFill>
          <a:ln w="38100">
            <a:solidFill>
              <a:srgbClr val="2A241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67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82880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明日からの "1歩目" が決まる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2880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3つのデモのうち、どれから始めるか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108813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2A2419"/>
            </a:solidFill>
            <a:prstDash val="solid"/>
          </a:ln>
          <a:effectLst>
            <a:outerShdw sx="100000" sy="100000" kx="0" ky="0" algn="bl" rotWithShape="0" blurRad="101600" dist="50800" dir="16200000">
              <a:srgbClr val="2A2419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5138928"/>
            <a:ext cx="640080" cy="640080"/>
          </a:xfrm>
          <a:prstGeom prst="ellipse">
            <a:avLst/>
          </a:prstGeom>
          <a:solidFill>
            <a:srgbClr val="FF8C42"/>
          </a:solidFill>
          <a:ln w="38100">
            <a:solidFill>
              <a:srgbClr val="2A24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1389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828800" y="5029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"うちの場合は?" にその場で答える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28800" y="5486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個別質問をチャット・音声で受け付けます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念のため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今日やらないこと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❌ AIの未来予測（抽象論）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2926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❌ プログラミングの技術論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3749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❌ 売り込み（最後の20分以外は一切ナシ）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5029200"/>
            <a:ext cx="10881360" cy="1188720"/>
          </a:xfrm>
          <a:prstGeom prst="rect">
            <a:avLst/>
          </a:prstGeom>
          <a:solidFill>
            <a:srgbClr val="FFE9B8"/>
          </a:solidFill>
          <a:ln w="50800">
            <a:solidFill>
              <a:srgbClr val="FF8C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0292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残り100分は実際にClaude Codeを動かして、業務がどう消えるかを目の前でお見せします。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D8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自己紹介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桜木 健二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📚 東京大学大学院 工学系研究科 近山・田浦研究室 卒業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🧠 日本のAI研究の先達 近山隆教授 のもと、AI研究に従事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💼 現在は経営戦略に直結する AI導入支援・コンサルティング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🎤 プロの塾講師経験 を活かした分かりやすい語り口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5212080"/>
            <a:ext cx="11247120" cy="1188720"/>
          </a:xfrm>
          <a:prstGeom prst="rect">
            <a:avLst/>
          </a:prstGeom>
          <a:solidFill>
            <a:srgbClr val="404040"/>
          </a:solidFill>
          <a:ln w="76200">
            <a:solidFill>
              <a:srgbClr val="FFD8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2120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「難しいことをやさしく、やさしいことをふかく」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ITが苦手な社長にも腑に落ちる伝え方を心がけています。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800" kern="0" dirty="0">
                <a:solidFill>
                  <a:srgbClr val="FFD8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1247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D8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痛みの掘り下げ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あなたの時間はどこに消えているのか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9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i="1" dirty="0">
                <a:solidFill>
                  <a:srgbClr val="FF8C4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?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先週1週間、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「これ、自分じゃなくてもいい仕事だな」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と思いながらやっていた業務は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5701F"/>
                </a:solidFill>
                <a:highlight>
                  <a:srgbClr val="FFE585"/>
                </a:highlight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何分ありましたか？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平均的な経営者で...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</a:t>
            </a:r>
            <a:endParaRPr lang="en-US" sz="32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時間／月。年間で営業日2か月分が消えています。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問題の正体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時間を奪う 4つの "あるある"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8100">
            <a:solidFill>
              <a:srgbClr val="2A2419"/>
            </a:solidFill>
            <a:prstDash val="solid"/>
          </a:ln>
          <a:effectLst>
            <a:outerShdw sx="100000" sy="100000" kx="0" ky="0" algn="bl" rotWithShape="0" blurRad="101600" dist="50800" dir="16200000">
              <a:srgbClr val="2A2419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3774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📝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92024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議事録づくり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920240" y="30175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2A2419"/>
          </a:solidFill>
          <a:ln w="12700">
            <a:solidFill>
              <a:srgbClr val="2A24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8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⏰ 月10時間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8100">
            <a:solidFill>
              <a:srgbClr val="2A2419"/>
            </a:solidFill>
            <a:prstDash val="solid"/>
          </a:ln>
          <a:effectLst>
            <a:outerShdw sx="100000" sy="100000" kx="0" ky="0" algn="bl" rotWithShape="0" blurRad="101600" dist="50800" dir="16200000">
              <a:srgbClr val="2A2419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23774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📰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758952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朝のニュース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589520" y="30175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2A2419"/>
          </a:solidFill>
          <a:ln w="12700">
            <a:solidFill>
              <a:srgbClr val="2A24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8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⏰ 月7.5時間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8100">
            <a:solidFill>
              <a:srgbClr val="2A2419"/>
            </a:solidFill>
            <a:prstDash val="solid"/>
          </a:ln>
          <a:effectLst>
            <a:outerShdw sx="100000" sy="100000" kx="0" ky="0" algn="bl" rotWithShape="0" blurRad="101600" dist="50800" dir="16200000">
              <a:srgbClr val="2A2419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4480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🔍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1920240" y="4480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"あれ、何だっけ" 検索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920240" y="51206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2A2419"/>
          </a:solidFill>
          <a:ln w="12700">
            <a:solidFill>
              <a:srgbClr val="2A24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5120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8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⏰ 月5〜8時間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411480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8100">
            <a:solidFill>
              <a:srgbClr val="2A2419"/>
            </a:solidFill>
            <a:prstDash val="solid"/>
          </a:ln>
          <a:effectLst>
            <a:outerShdw sx="100000" sy="100000" kx="0" ky="0" algn="bl" rotWithShape="0" blurRad="101600" dist="50800" dir="16200000">
              <a:srgbClr val="2A2419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4480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📱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7589520" y="4480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SNS発信の停滞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589520" y="51206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2A2419"/>
          </a:solidFill>
          <a:ln w="12700">
            <a:solidFill>
              <a:srgbClr val="2A241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5120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8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⏰ 機会損失大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8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 / 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💬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当てはまる罠の番号、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チャットに書いてください！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全部該当する方は「全部」と書いてください 😊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解決策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 / 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これまでの選択肢、3つしかなかった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651760" cy="2743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2A24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👔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秘書を雇う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月30〜50万円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教育リスク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2103120" cy="0"/>
          </a:xfrm>
          <a:prstGeom prst="line">
            <a:avLst/>
          </a:prstGeom>
          <a:noFill/>
          <a:ln w="50800">
            <a:solidFill>
              <a:srgbClr val="E55A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2286000"/>
            <a:ext cx="2651760" cy="2743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2A24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5603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🚫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29184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業務をやめる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91840" y="41148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実際にはやめられない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66160" y="3657600"/>
            <a:ext cx="2103120" cy="0"/>
          </a:xfrm>
          <a:prstGeom prst="line">
            <a:avLst/>
          </a:prstGeom>
          <a:noFill/>
          <a:ln w="50800">
            <a:solidFill>
              <a:srgbClr val="E55A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286000"/>
            <a:ext cx="2651760" cy="2743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2A241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5603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⏰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612648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早起きで頑張る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26480" y="41148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続かない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3657600"/>
            <a:ext cx="2103120" cy="0"/>
          </a:xfrm>
          <a:prstGeom prst="line">
            <a:avLst/>
          </a:prstGeom>
          <a:noFill/>
          <a:ln w="50800">
            <a:solidFill>
              <a:srgbClr val="E55A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2286000"/>
            <a:ext cx="2651760" cy="2743200"/>
          </a:xfrm>
          <a:prstGeom prst="roundRect">
            <a:avLst>
              <a:gd name="adj" fmla="val 6897"/>
            </a:avLst>
          </a:prstGeom>
          <a:solidFill>
            <a:srgbClr val="FF8C42"/>
          </a:solidFill>
          <a:ln w="38100">
            <a:solidFill>
              <a:srgbClr val="2A2419"/>
            </a:solidFill>
            <a:prstDash val="solid"/>
          </a:ln>
          <a:effectLst>
            <a:outerShdw sx="100000" sy="100000" kx="0" ky="0" algn="bl" rotWithShape="0" blurRad="101600" dist="63500" dir="16200000">
              <a:srgbClr val="2A2419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61120" y="25603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🤖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896112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AIに任せる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961120" y="41148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給与ゼロ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24時間稼働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78240" y="1828800"/>
            <a:ext cx="2834640" cy="457200"/>
          </a:xfrm>
          <a:prstGeom prst="rect">
            <a:avLst/>
          </a:prstGeom>
          <a:solidFill>
            <a:srgbClr val="FFD8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👑 これが第4の選択肢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778240" y="1783080"/>
            <a:ext cx="2834640" cy="411480"/>
          </a:xfrm>
          <a:prstGeom prst="roundRect">
            <a:avLst>
              <a:gd name="adj" fmla="val 48889"/>
            </a:avLst>
          </a:prstGeom>
          <a:solidFill>
            <a:srgbClr val="FFD84D"/>
          </a:solidFill>
          <a:ln w="25400">
            <a:solidFill>
              <a:srgbClr val="2A241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17830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👑 これが第4の選択肢！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主役の紹介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 / 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今日の主役は Claude Code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Anthropic社（米国）が作った、"経営層に使える" と注目されているAI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02920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38100">
            <a:solidFill>
              <a:srgbClr val="2A2419"/>
            </a:solidFill>
            <a:prstDash val="solid"/>
          </a:ln>
          <a:effectLst>
            <a:outerShdw sx="100000" sy="100000" kx="0" ky="0" algn="bl" rotWithShape="0" blurRad="101600" dist="50800" dir="16200000">
              <a:srgbClr val="2A2419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6517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ChatGPT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毎回 "ゼロから" の会話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記憶は引き継がれない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6634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業務との連携が弱い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3657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VS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6675120" y="2468880"/>
            <a:ext cx="5029200" cy="3657600"/>
          </a:xfrm>
          <a:prstGeom prst="roundRect">
            <a:avLst>
              <a:gd name="adj" fmla="val 3750"/>
            </a:avLst>
          </a:prstGeom>
          <a:solidFill>
            <a:srgbClr val="FF8C42"/>
          </a:solidFill>
          <a:ln w="38100">
            <a:solidFill>
              <a:srgbClr val="2A2419"/>
            </a:solidFill>
            <a:prstDash val="solid"/>
          </a:ln>
          <a:effectLst>
            <a:outerShdw sx="100000" sy="100000" kx="0" ky="0" algn="bl" rotWithShape="0" blurRad="101600" dist="50800" dir="16200000">
              <a:srgbClr val="2A2419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26517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 Code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858000" y="3383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あなた専属に "育てられる"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0" y="4023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会社・性格・好みを覚える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0" y="46634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業務ファイルと連携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3つの強み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 / 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 Code が経営者に効く理由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FFE9B8"/>
          </a:solidFill>
          <a:ln w="38100">
            <a:solidFill>
              <a:srgbClr val="2A2419"/>
            </a:solidFill>
            <a:prstDash val="solid"/>
          </a:ln>
          <a:effectLst>
            <a:outerShdw sx="100000" sy="100000" kx="0" ky="0" algn="bl" rotWithShape="0" blurRad="101600" dist="63500" dir="16200000">
              <a:srgbClr val="2A2419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6517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🧠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覚え続ける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会社情報・性格・好みを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一度伝えれば毎回伝えなくていい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228600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FFE9B8"/>
          </a:solidFill>
          <a:ln w="38100">
            <a:solidFill>
              <a:srgbClr val="2A2419"/>
            </a:solidFill>
            <a:prstDash val="solid"/>
          </a:ln>
          <a:effectLst>
            <a:outerShdw sx="100000" sy="100000" kx="0" ky="0" algn="bl" rotWithShape="0" blurRad="101600" dist="63500" dir="16200000">
              <a:srgbClr val="2A2419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0" y="26517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🔌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297680" y="3840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業務とつながる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80560" y="45720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メール・カレンダー・社内資料と連携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本物の "実務" に効く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228600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FFE9B8"/>
          </a:solidFill>
          <a:ln w="38100">
            <a:solidFill>
              <a:srgbClr val="2A2419"/>
            </a:solidFill>
            <a:prstDash val="solid"/>
          </a:ln>
          <a:effectLst>
            <a:outerShdw sx="100000" sy="100000" kx="0" ky="0" algn="bl" rotWithShape="0" blurRad="101600" dist="63500" dir="16200000">
              <a:srgbClr val="2A2419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38160" y="26517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🎯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8138160" y="3840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得意技をしこめる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45720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繰り返す業務は "型" として登録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毎回同じ品質で動く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 / 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💡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必要なのは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55A4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プログラミング知識 ではない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371600" y="3657600"/>
            <a:ext cx="9418320" cy="2286000"/>
          </a:xfrm>
          <a:prstGeom prst="roundRect">
            <a:avLst>
              <a:gd name="adj" fmla="val 8000"/>
            </a:avLst>
          </a:prstGeom>
          <a:solidFill>
            <a:srgbClr val="FFE9B8"/>
          </a:solidFill>
          <a:ln w="38100">
            <a:solidFill>
              <a:srgbClr val="2A2419"/>
            </a:solidFill>
            <a:prstDash val="solid"/>
          </a:ln>
          <a:effectLst>
            <a:outerShdw sx="100000" sy="100000" kx="0" ky="0" algn="bl" rotWithShape="0" blurRad="101600" dist="76200" dir="16200000">
              <a:srgbClr val="2A2419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38404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必要なのは、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438912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5701F"/>
                </a:solidFill>
                <a:highlight>
                  <a:srgbClr val="FFE585"/>
                </a:highlight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部下に指示を出すスキル。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371600" y="53035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つまり、経営者の本業そのもの。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14 / 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800" kern="0" dirty="0">
                <a:solidFill>
                  <a:srgbClr val="FFD8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1247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D8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ライブ実演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あなたの仕事が、こう変わります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これから60分で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 / 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3つの実演をお見せします</a:t>
            </a:r>
            <a:endParaRPr lang="en-US" sz="4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2860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486400"/>
                <a:gridCol w="1965960"/>
                <a:gridCol w="196596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A2419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#</a:t>
                      </a:r>
                      <a:endParaRPr lang="en-US" sz="2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A2419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テーマ</a:t>
                      </a:r>
                      <a:endParaRPr lang="en-US" sz="2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A2419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Before</a:t>
                      </a:r>
                      <a:endParaRPr lang="en-US" sz="2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A2419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After</a:t>
                      </a:r>
                      <a:endParaRPr lang="en-US" sz="2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B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FF8C42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1</a:t>
                      </a:r>
                      <a:endParaRPr lang="en-US" sz="3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419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議事録から決定事項を抽出</a:t>
                      </a:r>
                      <a:endParaRPr lang="en-US" sz="18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E55A4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30分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3E9A3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90秒</a:t>
                      </a:r>
                      <a:endParaRPr lang="en-US" sz="2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FF8C42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2</a:t>
                      </a:r>
                      <a:endParaRPr lang="en-US" sz="3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419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朝のニュースを要約</a:t>
                      </a:r>
                      <a:endParaRPr lang="en-US" sz="18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E55A4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20分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3E9A3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1分</a:t>
                      </a:r>
                      <a:endParaRPr lang="en-US" sz="2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FF8C42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3</a:t>
                      </a:r>
                      <a:endParaRPr lang="en-US" sz="3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419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動画→記事＋SNSに展開</a:t>
                      </a:r>
                      <a:endParaRPr lang="en-US" sz="18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E55A4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2.5時間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3E9A3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5分</a:t>
                      </a:r>
                      <a:endParaRPr lang="en-US" sz="2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DEMO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16 / 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議事録づくり、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ボタン1つで終わります。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30分会議の文字起こし（約8000字）を、Claude Codeで90秒に。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4846320"/>
            <a:ext cx="8503920" cy="1097280"/>
          </a:xfrm>
          <a:prstGeom prst="roundRect">
            <a:avLst>
              <a:gd name="adj" fmla="val 12500"/>
            </a:avLst>
          </a:prstGeom>
          <a:solidFill>
            <a:srgbClr val="FFE9B8"/>
          </a:solidFill>
          <a:ln w="38100">
            <a:solidFill>
              <a:srgbClr val="2A24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画面共有でライブ実演 ▼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DEMO 01｜結果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17 / 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議事録要約：30分 → 90秒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4937760" cy="4114800"/>
          </a:xfrm>
          <a:prstGeom prst="roundRect">
            <a:avLst>
              <a:gd name="adj" fmla="val 3333"/>
            </a:avLst>
          </a:prstGeom>
          <a:solidFill>
            <a:srgbClr val="FBE5E1"/>
          </a:solidFill>
          <a:ln w="38100">
            <a:solidFill>
              <a:srgbClr val="2A24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774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55A4B"/>
          </a:solidFill>
          <a:ln w="25400">
            <a:solidFill>
              <a:srgbClr val="2A24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これまで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5A4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30分／回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😩 録画を見直して文字起こし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😩 決定事項を箇条書きに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5120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😩 誰が何やるか整理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623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😩 関係者にメール送信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36576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6400" dirty="0"/>
          </a:p>
        </p:txBody>
      </p:sp>
      <p:sp>
        <p:nvSpPr>
          <p:cNvPr id="14" name="Shape 12"/>
          <p:cNvSpPr/>
          <p:nvPr/>
        </p:nvSpPr>
        <p:spPr>
          <a:xfrm>
            <a:off x="6766560" y="2194560"/>
            <a:ext cx="4937760" cy="4114800"/>
          </a:xfrm>
          <a:prstGeom prst="roundRect">
            <a:avLst>
              <a:gd name="adj" fmla="val 3333"/>
            </a:avLst>
          </a:prstGeom>
          <a:solidFill>
            <a:srgbClr val="E5F4DC"/>
          </a:solidFill>
          <a:ln w="38100">
            <a:solidFill>
              <a:srgbClr val="2A241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23774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5CB85C"/>
          </a:solidFill>
          <a:ln w="25400">
            <a:solidFill>
              <a:srgbClr val="2A241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これから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49440" y="29260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E9A3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90秒／回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94944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✨ 録画ファイルを渡すだけ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✨ 決定事項3点を自動抽出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5120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✨ 担当・期限つきの宿題リスト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5623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✨ "次に判断すべきこと" まで自動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18 / 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これだけで...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</a:t>
            </a:r>
            <a:endParaRPr lang="en-US" sz="28000" dirty="0"/>
          </a:p>
        </p:txBody>
      </p:sp>
      <p:sp>
        <p:nvSpPr>
          <p:cNvPr id="5" name="Text 3"/>
          <p:cNvSpPr/>
          <p:nvPr/>
        </p:nvSpPr>
        <p:spPr>
          <a:xfrm>
            <a:off x="457200" y="5212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時間／月 が消えました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8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19 / 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💬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議事録、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あなたの会社なら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8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どんな項目が欲しいですか？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例：「論点として残ったもの」「役員別のアクション」など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DEMO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 / 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朝のニュース、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1分で終わります。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毎朝15〜20分かけているニュースチェックを、"自社目線" の1分ブリーフに。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28800" y="4846320"/>
            <a:ext cx="8503920" cy="1097280"/>
          </a:xfrm>
          <a:prstGeom prst="roundRect">
            <a:avLst>
              <a:gd name="adj" fmla="val 12500"/>
            </a:avLst>
          </a:prstGeom>
          <a:solidFill>
            <a:srgbClr val="FFE9B8"/>
          </a:solidFill>
          <a:ln w="38100">
            <a:solidFill>
              <a:srgbClr val="2A24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画面共有でライブ実演 ▼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DEMO 02｜結果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21 / 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朝のニュース：20分 → 1分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4937760" cy="4114800"/>
          </a:xfrm>
          <a:prstGeom prst="roundRect">
            <a:avLst>
              <a:gd name="adj" fmla="val 3333"/>
            </a:avLst>
          </a:prstGeom>
          <a:solidFill>
            <a:srgbClr val="FBE5E1"/>
          </a:solidFill>
          <a:ln w="38100">
            <a:solidFill>
              <a:srgbClr val="2A24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774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55A4B"/>
          </a:solidFill>
          <a:ln w="25400">
            <a:solidFill>
              <a:srgbClr val="2A24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これまで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5A4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15〜20分／日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😩 ニュースアプリを開く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😩 Slackの未読を流し読み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5120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😩 業界メディアを巡回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623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😩 頭が散らかったまま朝MTG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36576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6400" dirty="0"/>
          </a:p>
        </p:txBody>
      </p:sp>
      <p:sp>
        <p:nvSpPr>
          <p:cNvPr id="14" name="Shape 12"/>
          <p:cNvSpPr/>
          <p:nvPr/>
        </p:nvSpPr>
        <p:spPr>
          <a:xfrm>
            <a:off x="6766560" y="2194560"/>
            <a:ext cx="4937760" cy="4114800"/>
          </a:xfrm>
          <a:prstGeom prst="roundRect">
            <a:avLst>
              <a:gd name="adj" fmla="val 3333"/>
            </a:avLst>
          </a:prstGeom>
          <a:solidFill>
            <a:srgbClr val="E5F4DC"/>
          </a:solidFill>
          <a:ln w="38100">
            <a:solidFill>
              <a:srgbClr val="2A241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23774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5CB85C"/>
          </a:solidFill>
          <a:ln w="25400">
            <a:solidFill>
              <a:srgbClr val="2A241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これから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49440" y="29260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E9A3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1分／日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94944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✨ 3行で今朝のサマリ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✨ 競合の動きと自社への影響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5120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✨ 今日の判断に効く1件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5623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✨ 判断モードで朝MTGへ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22 / 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さらに...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7.5</a:t>
            </a:r>
            <a:endParaRPr lang="en-US" sz="24000" dirty="0"/>
          </a:p>
        </p:txBody>
      </p:sp>
      <p:sp>
        <p:nvSpPr>
          <p:cNvPr id="5" name="Text 3"/>
          <p:cNvSpPr/>
          <p:nvPr/>
        </p:nvSpPr>
        <p:spPr>
          <a:xfrm>
            <a:off x="457200" y="5212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時間／月 が消えます。合計 17.5時間／月。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DEMO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23 / 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動画やPodcastを、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5分で記事＋SNSに展開。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20分のPodcast音声から、note記事・X・LinkedIn・社内サマリを一気に生成。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28800" y="4846320"/>
            <a:ext cx="8503920" cy="1097280"/>
          </a:xfrm>
          <a:prstGeom prst="roundRect">
            <a:avLst>
              <a:gd name="adj" fmla="val 12500"/>
            </a:avLst>
          </a:prstGeom>
          <a:solidFill>
            <a:srgbClr val="FFE9B8"/>
          </a:solidFill>
          <a:ln w="38100">
            <a:solidFill>
              <a:srgbClr val="2A24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画面共有でライブ実演 ▼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DEMO 03｜結果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24 / 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SNS発信：2.5時間 → 5分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4937760" cy="4114800"/>
          </a:xfrm>
          <a:prstGeom prst="roundRect">
            <a:avLst>
              <a:gd name="adj" fmla="val 3333"/>
            </a:avLst>
          </a:prstGeom>
          <a:solidFill>
            <a:srgbClr val="FBE5E1"/>
          </a:solidFill>
          <a:ln w="38100">
            <a:solidFill>
              <a:srgbClr val="2A24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774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55A4B"/>
          </a:solidFill>
          <a:ln w="25400">
            <a:solidFill>
              <a:srgbClr val="2A24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これまで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5A4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2〜3時間／本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😩 文字起こしを読み返す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😩 note記事に書き直す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5120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😩 X用に短く整える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623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😩 気力切れて、結局やめる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36576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6400" dirty="0"/>
          </a:p>
        </p:txBody>
      </p:sp>
      <p:sp>
        <p:nvSpPr>
          <p:cNvPr id="14" name="Shape 12"/>
          <p:cNvSpPr/>
          <p:nvPr/>
        </p:nvSpPr>
        <p:spPr>
          <a:xfrm>
            <a:off x="6766560" y="2194560"/>
            <a:ext cx="4937760" cy="4114800"/>
          </a:xfrm>
          <a:prstGeom prst="roundRect">
            <a:avLst>
              <a:gd name="adj" fmla="val 3333"/>
            </a:avLst>
          </a:prstGeom>
          <a:solidFill>
            <a:srgbClr val="E5F4DC"/>
          </a:solidFill>
          <a:ln w="38100">
            <a:solidFill>
              <a:srgbClr val="2A241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23774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5CB85C"/>
          </a:solidFill>
          <a:ln w="25400">
            <a:solidFill>
              <a:srgbClr val="2A241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これから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49440" y="29260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E9A3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5分／本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94944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✨ note記事（章立てつき）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✨ X投稿スレッド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5120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✨ LinkedIn投稿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5623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✨ 社内Slack共有用サマリ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25 / 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3つだけで...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371600" y="2011680"/>
            <a:ext cx="9418320" cy="4114800"/>
          </a:xfrm>
          <a:prstGeom prst="roundRect">
            <a:avLst>
              <a:gd name="adj" fmla="val 4444"/>
            </a:avLst>
          </a:prstGeom>
          <a:solidFill>
            <a:srgbClr val="2A2419"/>
          </a:solidFill>
          <a:ln w="38100">
            <a:solidFill>
              <a:srgbClr val="2A2419"/>
            </a:solidFill>
            <a:prstDash val="solid"/>
          </a:ln>
          <a:effectLst>
            <a:outerShdw sx="100000" sy="100000" kx="0" ky="0" algn="bl" rotWithShape="0" blurRad="101600" dist="101600" dir="16200000">
              <a:srgbClr val="FF8C42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22860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月に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2834640"/>
            <a:ext cx="9418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FFD8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20〜25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1371600" y="530352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 取り戻せます</a:t>
            </a:r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E9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26 / 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🎣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今日のデモは "魚を見せた" だけ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本当に手に入れるべきは、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5701F"/>
                </a:solidFill>
                <a:highlight>
                  <a:srgbClr val="FFE585"/>
                </a:highlight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"釣り方" です。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自分の業務に合わせて、新しいスキルを 自分で作れる状態。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27 / 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800" kern="0" dirty="0">
                <a:solidFill>
                  <a:srgbClr val="FFD8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1247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D8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これから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あなたが選べる3つの選択肢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今日からの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28 / 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3つの選択肢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8813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2A24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011680" y="23317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何もしない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0" y="2834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来月も同じ業務に追われる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108813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2A24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490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011680" y="3703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自分で頑張る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公式ドキュメントで独学｜3〜6か月かかる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10881360" cy="1188720"/>
          </a:xfrm>
          <a:prstGeom prst="roundRect">
            <a:avLst>
              <a:gd name="adj" fmla="val 11538"/>
            </a:avLst>
          </a:prstGeom>
          <a:solidFill>
            <a:srgbClr val="FF8C42"/>
          </a:solidFill>
          <a:ln w="38100">
            <a:solidFill>
              <a:srgbClr val="2A2419"/>
            </a:solidFill>
            <a:prstDash val="solid"/>
          </a:ln>
          <a:effectLst>
            <a:outerShdw sx="100000" sy="100000" kx="0" ky="0" algn="bl" rotWithShape="0" blurRad="101600" dist="63500" dir="16200000">
              <a:srgbClr val="2A2419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51206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8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2011680" y="50749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私と一緒にやる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11680" y="5577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1か月で実装｜月30時間を取り戻す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サービス紹介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29 / 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AIチーフ・オブ・スタッフ顧問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経営者専属のAIを、1か月で立ち上げ・運用する伴走サービス</a:t>
            </a:r>
            <a:endParaRPr lang="en-US" sz="1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80467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A2419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期間</a:t>
                      </a:r>
                      <a:endParaRPr lang="en-US" sz="16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A2419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サポート内容</a:t>
                      </a:r>
                      <a:endParaRPr lang="en-US" sz="16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B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2419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第1月（ブースト期）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419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週1ミーティング × 4回｜環境構築 → スキル3本 → 意思決定支援 → 発信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2419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第2〜3月（定着期）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419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隔週ミーティング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2419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第4月以降（運用期）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419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月1ミーティング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2419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全期間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419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Slack質問無制限・月配布スキル・月1グループ会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A24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価格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 / 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月額（最低3か月継続）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¥50,000</a:t>
            </a:r>
            <a:endParaRPr lang="en-US" sz="200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／月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0" y="4572000"/>
            <a:ext cx="292608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2A2419"/>
            </a:solidFill>
            <a:prstDash val="solid"/>
          </a:ln>
          <a:effectLst>
            <a:outerShdw sx="100000" sy="100000" kx="0" ky="0" algn="bl" rotWithShape="0" blurRad="101600" dist="38100" dir="16200000">
              <a:srgbClr val="2A2419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4663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秘書1人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5029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月30〜50万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0" y="4572000"/>
            <a:ext cx="292608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2A2419"/>
            </a:solidFill>
            <a:prstDash val="solid"/>
          </a:ln>
          <a:effectLst>
            <a:outerShdw sx="100000" sy="100000" kx="0" ky="0" algn="bl" rotWithShape="0" blurRad="101600" dist="38100" dir="16200000">
              <a:srgbClr val="2A2419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4663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経営コーチ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5029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月10〜20万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72400" y="4572000"/>
            <a:ext cx="2926080" cy="1188720"/>
          </a:xfrm>
          <a:prstGeom prst="roundRect">
            <a:avLst>
              <a:gd name="adj" fmla="val 11538"/>
            </a:avLst>
          </a:prstGeom>
          <a:solidFill>
            <a:srgbClr val="FFD84D"/>
          </a:solidFill>
          <a:ln w="38100">
            <a:solidFill>
              <a:srgbClr val="2A2419"/>
            </a:solidFill>
            <a:prstDash val="solid"/>
          </a:ln>
          <a:effectLst>
            <a:outerShdw sx="100000" sy="100000" kx="0" ky="0" algn="bl" rotWithShape="0" blurRad="101600" dist="38100" dir="16200000">
              <a:srgbClr val="2A2419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0" y="4663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本サービス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5029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月5万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31 / 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3か月一括前払いで...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trike="sngStrike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¥150,000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114800" y="274320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5486400" y="2103120"/>
            <a:ext cx="5943600" cy="2286000"/>
          </a:xfrm>
          <a:prstGeom prst="roundRect">
            <a:avLst>
              <a:gd name="adj" fmla="val 6000"/>
            </a:avLst>
          </a:prstGeom>
          <a:solidFill>
            <a:srgbClr val="FF8C42"/>
          </a:solidFill>
          <a:ln w="38100">
            <a:solidFill>
              <a:srgbClr val="2A2419"/>
            </a:solidFill>
            <a:prstDash val="solid"/>
          </a:ln>
          <a:effectLst>
            <a:outerShdw sx="100000" sy="100000" kx="0" ky="0" algn="bl" rotWithShape="0" blurRad="101600" dist="63500" dir="16200000">
              <a:srgbClr val="2A2419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0" y="2286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8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一括だと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0" y="27432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¥138,000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実質 ¥12,000 引き</a:t>
            </a:r>
            <a:endParaRPr lang="en-US" sz="2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E9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本日限定オファー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32 / 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15分の 無料個別診断 をプレゼント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✅ あなたの業務をヒアリング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✅ どのデモが一番効くかを一緒に見極める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✅ "あなたの業務でClaude Codeが何を自動化できるか" の即興デモ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✅ AI顧問が合うかどうか、率直にお話します（合わなければ「合わない」と言います）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solidFill>
            <a:srgbClr val="2A2419"/>
          </a:solidFill>
          <a:ln w="25400">
            <a:solidFill>
              <a:srgbClr val="2A24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⚠️ 診断枠は 今月10名のみ｜LP下部のフォームから予約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8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33 / 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📋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個別診断のお申し込み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LP下部の申込フォームから、1分で予約できます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4114800"/>
            <a:ext cx="8503920" cy="10972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A2419"/>
            </a:solidFill>
            <a:prstDash val="solid"/>
          </a:ln>
          <a:effectLst>
            <a:outerShdw sx="100000" sy="100000" kx="0" ky="0" algn="bl" rotWithShape="0" blurRad="101600" dist="76200" dir="16200000">
              <a:srgbClr val="2A2419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0" y="411480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👉 [短縮URL or QRコード]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「とりあえず話だけ聞きたい」で全く構いません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34 / 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最後にひとつだけ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solidFill>
            <a:srgbClr val="FFE9B8"/>
          </a:solidFill>
          <a:ln w="508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1168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今日参加された時点で、皆さんはすでに上位5%の経営者です。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8346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AIに対して "知りたい" "試したい" と能動的に動ける経営者は、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586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まだ全体のごく一部です。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A241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30時間を取り戻すか、来月も議事録に追われるか。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701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決められるのは、社長、あなただけです。</a:t>
            </a:r>
            <a:endParaRPr lang="en-US" sz="2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A92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35 / 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🙏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D8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ありがとうございました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桜木 健二｜AI Chief of Staff Lab. 主宰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note：[URL]｜X：[URL]｜お問い合わせ：[email]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AI Chief of Staff Lab.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社長の30時間を、AIで取り戻す</dc:title>
  <dc:subject>PptxGenJS Presentation</dc:subject>
  <dc:creator>桜木 健二</dc:creator>
  <cp:lastModifiedBy>桜木 健二</cp:lastModifiedBy>
  <cp:revision>1</cp:revision>
  <dcterms:created xsi:type="dcterms:W3CDTF">2026-05-04T15:19:53Z</dcterms:created>
  <dcterms:modified xsi:type="dcterms:W3CDTF">2026-05-04T15:19:53Z</dcterms:modified>
</cp:coreProperties>
</file>